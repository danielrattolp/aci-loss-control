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400" kern="0" dirty="0">
                <a:solidFill>
                  <a:srgbClr val="00BFA5"/>
                </a:solidFill>
              </a:rPr>
              <a:t>LOSS CONTROL · INSPECCIÓN · INTELIGENCIA ARTIFICIAL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ACI Loss Control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Protegemos tu operación de punta a punta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tecnología de Inteligencia Artificial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2011680" cy="3657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pic>
        <p:nvPicPr>
          <p:cNvPr id="8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09728"/>
            <a:ext cx="2651760" cy="8869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572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07D8B"/>
                </a:solidFill>
              </a:rPr>
              <a:t>Confidencial · 2025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0" y="4572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FA5"/>
                </a:solidFill>
              </a:rPr>
              <a:t>www.acilatam.cl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QUIÉNES SOMOS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empresa dedicada a la inspección y control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pérdidas en operaciones de hidrocarburos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7373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737360"/>
            <a:ext cx="27432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901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de campo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23774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Inspectores certificados con amplia trayectoria en medición, muestreo y certificación de hidrocarburos en toda la cadena de custodia.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17373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737360"/>
            <a:ext cx="27432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901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nacional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23774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 en los principales polos de operación del país. Capacidad de respuesta rápida en plantas, terminales y buques.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63056" y="1737360"/>
            <a:ext cx="2743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737360"/>
            <a:ext cx="274320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19019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propia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27648" y="2377440"/>
            <a:ext cx="2423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IA desarrollada in-house que digitaliza y audita cada proceso de inspección en tiempo real.</a:t>
            </a:r>
            <a:endParaRPr lang="en-US" sz="1100" dirty="0"/>
          </a:p>
        </p:txBody>
      </p:sp>
      <p:pic>
        <p:nvPicPr>
          <p:cNvPr id="17" name="Image 0" descr="C:/Users/usuario/Documents/ACI Loss Control/assets/aci-logo-whi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NUESTRA COBERTURA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Servicios de inspección en toda la cadena de valor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55448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de Tanques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Ullaje, temperatura, agua libre y sedimentos. Cálculo de volúmenes GSV/NSV a 15°C y 60°F.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55448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18688" y="155448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Muestreo de Producto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20299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Obtención de muestras representativas según normas ASTM/IP. Trazabilidad completa del proceso.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55448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63056" y="155448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69164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de Buques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2996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de operaciones de carga y descarga. Control de interfaces y documentación oficial.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10896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0896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Certificación de Calidad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5844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laboratorio y emisión de certificados de calidad reconocidos internacionalmente.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10896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310896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Pérdidas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5844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y cuantificación de diferencias. Reporte de desvíos con evidencia audiovisual.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3108960"/>
            <a:ext cx="2743200" cy="1417320"/>
          </a:xfrm>
          <a:prstGeom prst="rect">
            <a:avLst/>
          </a:prstGeom>
          <a:solidFill>
            <a:srgbClr val="112233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3108960"/>
            <a:ext cx="54864" cy="1417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246120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Procesos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3584448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integral de procedimientos operativos. Comparación contra estándares y mejores prácticas.</a:t>
            </a:r>
            <a:endParaRPr lang="en-US" sz="1000" dirty="0"/>
          </a:p>
        </p:txBody>
      </p:sp>
      <p:pic>
        <p:nvPicPr>
          <p:cNvPr id="29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A623"/>
                </a:solidFill>
              </a:rPr>
              <a:t>EL DESAFÍO DEL SECTOR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las pérdidas siguen ocurriendo?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D1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600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0.3–1%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84048" y="22860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pérdida operativa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aceptada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industria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18688" y="1508760"/>
            <a:ext cx="274320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D1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28416" y="1600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28416" y="22860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desvíos originados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errores de proceso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63056" y="1508760"/>
            <a:ext cx="2743200" cy="15544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D1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72784" y="16002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trazabilidad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72784" y="2286000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los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incidentes no pueden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auditarse después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246120"/>
            <a:ext cx="85953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55848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en papel o planillas son propensos a errores humanos e inconsistencias.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712464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evidencia audiovisual que respalde las mediciones realizadas en campo.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069080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desvíos se detectan tarde: cuando el impacto económico ya es significativo.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25696"/>
            <a:ext cx="82296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cadena de custodia se rompe por falta de un sistema de trazabilidad integral.</a:t>
            </a:r>
            <a:endParaRPr lang="en-US" sz="1100" dirty="0"/>
          </a:p>
        </p:txBody>
      </p:sp>
      <p:pic>
        <p:nvPicPr>
          <p:cNvPr id="19" name="Image 0" descr="C:/Users/usuario/Documents/ACI Loss Control/assets/aci-logo-whi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NUESTRA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Procesos de inspección potenciados por IA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inteligente de procesos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" y="187452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operación de medición y muestreo es grabada en video. Nuestra plataforma de IA analiza el registro audiovisual y edita automáticamente el paso a paso del proceso, documentando cada acción del inspector con timestamps y anotaciones técnicas.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3337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automática de cada etapa del proceso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36758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Anotación de parámetros medidos (ullaje, temperatura, densidad)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del informe técnico desde el video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43525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seguro en la nube con acceso auditado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1417320"/>
            <a:ext cx="3291840" cy="7132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58191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GRABA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49440" y="2130552"/>
            <a:ext cx="73152" cy="155448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2286000"/>
            <a:ext cx="3291840" cy="7132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ANALIZA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49440" y="2999232"/>
            <a:ext cx="73152" cy="155448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3154680"/>
            <a:ext cx="3291840" cy="71323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33192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EDITA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949440" y="3867912"/>
            <a:ext cx="73152" cy="155448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4023360"/>
            <a:ext cx="3291840" cy="713232"/>
          </a:xfrm>
          <a:prstGeom prst="rect">
            <a:avLst/>
          </a:prstGeom>
          <a:solidFill>
            <a:srgbClr val="004D40"/>
          </a:solidFill>
          <a:ln w="12700">
            <a:solidFill>
              <a:srgbClr val="004D4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41879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REPORTA</a:t>
            </a:r>
            <a:endParaRPr lang="en-US" sz="1600" dirty="0"/>
          </a:p>
        </p:txBody>
      </p:sp>
      <p:pic>
        <p:nvPicPr>
          <p:cNvPr id="22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EDICIÓN IA DEL PROCESO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video al informe técnico en minutos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12648" y="14173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52728" y="1709928"/>
            <a:ext cx="6858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" y="2240280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" y="23317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 en campo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2852928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graba el proceso completo con audio y video desde el dispositivo móvil.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368296" y="14173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8296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08376" y="1709928"/>
            <a:ext cx="6858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02536" y="2240280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066544" y="23317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video 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66544" y="2852928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identifica cada etapa: acceso al tanque, colocación de la cinta, lectura, extracción.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23944" y="14173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944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64024" y="1709928"/>
            <a:ext cx="6858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58184" y="2240280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22192" y="23317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Estructuración automática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22192" y="2852928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el paso a paso documentado con capturas, timestamps y parámetros anotados.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879592" y="14173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79592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19672" y="1709928"/>
            <a:ext cx="68580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13832" y="2240280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577840" y="23317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del inspector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77840" y="2852928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revisa y confirma el informe generado. El consultor IA puede señalar observaciones.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635240" y="141732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35240" y="14356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69480" y="2240280"/>
            <a:ext cx="15727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33488" y="2331720"/>
            <a:ext cx="1444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 cliente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333488" y="2852928"/>
            <a:ext cx="14447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técnico certificado disponible en la plataforma con acceso inmediato.</a:t>
            </a:r>
            <a:endParaRPr lang="en-US" sz="950" dirty="0"/>
          </a:p>
        </p:txBody>
      </p:sp>
      <p:pic>
        <p:nvPicPr>
          <p:cNvPr id="34" name="Image 0" descr="C:/Users/usuario/Documents/ACI Loss Control/assets/aci-logo-whi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CONSULTOR 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desvíos de punta a punta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926080" y="1417320"/>
            <a:ext cx="3291840" cy="3291840"/>
          </a:xfrm>
          <a:prstGeom prst="rect">
            <a:avLst/>
          </a:prstGeom>
          <a:solidFill>
            <a:srgbClr val="00BFA5">
              <a:alpha val="15000"/>
            </a:srgbClr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92608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</a:rPr>
              <a:t>CONSULTOR 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25146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Motor de análisis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BFA5"/>
                </a:solidFill>
              </a:rPr>
              <a:t>inteligente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32004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la operación completa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identificando patrones de riesgo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desvíos vs. procedimientos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828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0BFA5"/>
                </a:solidFill>
              </a:rPr>
              <a:t>ENTRADAS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" y="1874520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8745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651760" y="2075688"/>
            <a:ext cx="27432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2532888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" y="2532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medidos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51760" y="2734056"/>
            <a:ext cx="27432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3191256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319125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operaciones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51760" y="3392424"/>
            <a:ext cx="27432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849624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384962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y procedimientos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651760" y="4050792"/>
            <a:ext cx="274320" cy="2743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A623"/>
                </a:solidFill>
              </a:rPr>
              <a:t>SALIDAS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2075688"/>
            <a:ext cx="27432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874520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187452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desvío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2734056"/>
            <a:ext cx="27432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2532888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532888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riesgo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3392424"/>
            <a:ext cx="27432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3191256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3191256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4050792"/>
            <a:ext cx="274320" cy="274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3849624"/>
            <a:ext cx="2468880" cy="530352"/>
          </a:xfrm>
          <a:prstGeom prst="rect">
            <a:avLst/>
          </a:prstGeom>
          <a:solidFill>
            <a:srgbClr val="1C3D5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849624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050" dirty="0"/>
          </a:p>
        </p:txBody>
      </p:sp>
      <p:pic>
        <p:nvPicPr>
          <p:cNvPr id="35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BENEFICIOS CLAVE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gana tu operación?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4160520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Pérdidas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31720" y="16459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de pérdidas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8912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detección temprana de desvíos en cada operación reduce significativamente las pérdidas no justificadas.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08760"/>
            <a:ext cx="4160520" cy="6400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16276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64592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total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73752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proceso queda documentado en video, con registro de parámetros, responsable y timestamp inmutable.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2461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4612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Tiempo real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331720" y="33832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inmediatas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" y="3840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IA detecta anomalías al instante y notifica a supervisores antes de que el impacto escale.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46120"/>
            <a:ext cx="41605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33649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Compliance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383280"/>
            <a:ext cx="1938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73752" y="38404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alineados a normas ASTM, IP e ISO. Documentación lista para auditorías y disputas comerciales.</a:t>
            </a:r>
            <a:endParaRPr lang="en-US" sz="1100" dirty="0"/>
          </a:p>
        </p:txBody>
      </p:sp>
      <p:pic>
        <p:nvPicPr>
          <p:cNvPr id="25" name="Image 0" descr="C:/Users/usuario/Documents/ACI Loss Control/assets/aci-logo-whi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FLUJO INTEGRAL DE OPERACIÓN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operación en campo al informe certificado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234440" cy="1234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campo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600200" y="2130552"/>
            <a:ext cx="182880" cy="27432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83080" y="1554480"/>
            <a:ext cx="1234440" cy="1234440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78308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activa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17520" y="2130552"/>
            <a:ext cx="182880" cy="27432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554480"/>
            <a:ext cx="1234440" cy="1234440"/>
          </a:xfrm>
          <a:prstGeom prst="rect">
            <a:avLst/>
          </a:prstGeom>
          <a:solidFill>
            <a:srgbClr val="00796B"/>
          </a:solidFill>
          <a:ln w="12700">
            <a:solidFill>
              <a:srgbClr val="0079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434840" y="2130552"/>
            <a:ext cx="182880" cy="27432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1554480"/>
            <a:ext cx="1234440" cy="1234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1772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desvíos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852160" y="2130552"/>
            <a:ext cx="182880" cy="27432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554480"/>
            <a:ext cx="1234440" cy="1234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03504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69480" y="2130552"/>
            <a:ext cx="182880" cy="27432"/>
          </a:xfrm>
          <a:prstGeom prst="rect">
            <a:avLst/>
          </a:prstGeom>
          <a:solidFill>
            <a:srgbClr val="B0C4CE"/>
          </a:solidFill>
          <a:ln w="12700">
            <a:solidFill>
              <a:srgbClr val="B0C4C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554480"/>
            <a:ext cx="123444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52360" y="164592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52360" y="214884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certificada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2971800"/>
            <a:ext cx="8595360" cy="1920240"/>
          </a:xfrm>
          <a:prstGeom prst="rect">
            <a:avLst/>
          </a:prstGeom>
          <a:solidFill>
            <a:srgbClr val="0D1B2A">
              <a:alpha val="80000"/>
            </a:srgbClr>
          </a:solidFill>
          <a:ln w="12700">
            <a:solidFill>
              <a:srgbClr val="1E4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906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</a:t>
            </a:r>
            <a:pPr indent="0" marL="0">
              <a:buNone/>
            </a:pPr>
            <a:r>
              <a:rPr lang="en-US" sz="11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inspector activa la grabación al iniciar la operación. La IA reconoce automáticamente el contexto (medición de ullaje, toma de muestra, etc.).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63931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pPr indent="0" marL="0">
              <a:buNone/>
            </a:pPr>
            <a:r>
              <a:rPr lang="en-US" sz="11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IA compara cada paso con los procedimientos estándar y el historial del operador. Detecta desvíos en tiempo real.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879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pPr indent="0" marL="0">
              <a:buNone/>
            </a:pPr>
            <a:r>
              <a:rPr lang="en-US" sz="11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concluir, el sistema genera el informe técnico completo con evidencia audiovisual, parámetros registrados y estado de cumplimiento.</a:t>
            </a:r>
            <a:endParaRPr lang="en-US" sz="1100" dirty="0"/>
          </a:p>
        </p:txBody>
      </p:sp>
      <p:pic>
        <p:nvPicPr>
          <p:cNvPr id="32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BFA5"/>
                </a:solidFill>
              </a:rPr>
              <a:t>POR QUÉ ACI LOSS CONTROL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única firma que combina inspección certificada con IA propia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0876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367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Inspección + Tecnología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0391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somos solo una empresa tecnológica ni solo una empresa inspectora. Somos ambas, integradas.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50876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50876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6367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desarrollada para el sector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55848" y="20391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motor IA fue entrenado específicamente con procesos de medición y muestreo de hidrocarburos.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50876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50876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0216" y="16367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irrefutable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0216" y="203911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video y los datos procesados por IA son evidencia válida ante cualquier disputa comercial o regulatoria.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5468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82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inmediata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" y="368503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hardware especial. El inspector usa su dispositivo móvil. La plataforma funciona desde el primer día.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18688" y="315468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18688" y="315468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55848" y="3282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continua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55848" y="368503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Consultor IA aprende de cada operación, mejorando la precisión de detección de desvíos con el tiempo.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63056" y="3154680"/>
            <a:ext cx="2743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63056" y="3154680"/>
            <a:ext cx="2743200" cy="54864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328269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24 / 7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0216" y="368503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técnico disponible para acompañar cualquier operación crítica y resolver consultas en tiempo real.</a:t>
            </a:r>
            <a:endParaRPr lang="en-US" sz="1050" dirty="0"/>
          </a:p>
        </p:txBody>
      </p:sp>
      <p:pic>
        <p:nvPicPr>
          <p:cNvPr id="29" name="Image 0" descr="C:/Users/usuario/Documents/ACI Loss Control/assets/aci-logo-white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C3D5A"/>
          </a:solidFill>
          <a:ln w="12700">
            <a:solidFill>
              <a:srgbClr val="1C3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05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¿LISTO PARA TRANSFORMAR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OPERACIÓN?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0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una demostración gratuita y descubre cómo la IA de ACI puede proteger tu operación hoy.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49040"/>
            <a:ext cx="2560320" cy="5943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7673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</a:rPr>
              <a:t>SOLICITAR DEMO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03520" y="11887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FA5"/>
                </a:solidFill>
              </a:rPr>
              <a:t>CONTACTO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6916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D8B"/>
                </a:solidFill>
              </a:rPr>
              <a:t>EMAIL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03520" y="19751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danielratto@acilatam.cl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24414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D8B"/>
                </a:solidFill>
              </a:rPr>
              <a:t>WEB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27249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www.acilatam.cl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07D8B"/>
                </a:solidFill>
              </a:rPr>
              <a:t>PLATAFORMA 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0" y="3474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app.acilatam.cl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47091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ACI Loss Control · Inspección certificada potenciada por Inteligencia Artificial</a:t>
            </a:r>
            <a:endParaRPr lang="en-US" sz="950" dirty="0"/>
          </a:p>
        </p:txBody>
      </p:sp>
      <p:pic>
        <p:nvPicPr>
          <p:cNvPr id="16" name="Image 0" descr="C:/Users/usuario/Documents/ACI Loss Control/assets/aci-logo-black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73152"/>
            <a:ext cx="1600200" cy="5303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ACI Loss Control – Presentación Corporativa</dc:title>
  <dc:subject>PptxGenJS Presentation</dc:subject>
  <dc:creator>ACI Loss Control</dc:creator>
  <cp:lastModifiedBy>ACI Loss Control</cp:lastModifiedBy>
  <cp:revision>1</cp:revision>
  <dcterms:created xsi:type="dcterms:W3CDTF">2026-06-21T09:01:37Z</dcterms:created>
  <dcterms:modified xsi:type="dcterms:W3CDTF">2026-06-21T09:01:37Z</dcterms:modified>
</cp:coreProperties>
</file>