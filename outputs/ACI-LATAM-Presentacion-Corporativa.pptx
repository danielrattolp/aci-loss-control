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108960" cy="4389120"/>
          </a:xfrm>
          <a:prstGeom prst="roundRect">
            <a:avLst>
              <a:gd name="adj" fmla="val 3529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94360" y="640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CONTROL EXPERTS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206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contacto@acilatam.cl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www.acilatam.cl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731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Corporativa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840480" y="2651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técnico independiente para operaciones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carga, descarga, transferencia y almacenamiento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mercancías petroleras.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3977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hacemos inspecciones.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i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Auditamos procesos de inspección."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Presencia técnica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donde cada barril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 LATAM actúa como ojos técnicos independientes en operaciones petroleras críticas. Protegemos los intereses del cliente mediante presencia en terreno, control de cantidades y calidad, registro de eventos y reportabilidad trazable.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intervención genera evidencia estructurada y cálculos auditables que respaldan decisiones ejecutivas y reclamaciones contractuales.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0" y="4114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5486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0" y="7955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de cobertura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1947672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36603A"/>
          </a:solidFill>
          <a:ln w="12700">
            <a:solidFill>
              <a:srgbClr val="3660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08483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MPMS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2648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 de referencia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3483864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F5867"/>
          </a:solidFill>
          <a:ln w="12700">
            <a:solidFill>
              <a:srgbClr val="1F586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621024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26480" y="38679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técnico integrado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OPERATIVA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Presencia en Sudamérica,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Caribe y Estados Unidos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2336" y="187452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D49B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929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🇨🇱 Chile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" y="22037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Puertos, refinerías, terminales y plantas de abastecimiento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05456" y="187452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D49B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1929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🇦🇷 Argentina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15184" y="22037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Litoral atlántico, Patagonia y operaciones portuarias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08576" y="187452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D49B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929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🇪🇨 Ecuador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18304" y="22037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Terminales de almacenamiento y suministro de combustibles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11696" y="187452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D49B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1929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🇨🇴 Colombia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21424" y="22037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costeras e interiores con soporte técnico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2916936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D49B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🇵🇪 Perú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2461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Terminales, puertos y abastecimiento en costa pacífica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05456" y="2916936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D49B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5184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🌴 Caribe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15184" y="32461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energéticas regionales y transferencias internacionales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08576" y="2916936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D49B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Estados Unidos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32461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internacional de alto requerimiento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33872" y="1874520"/>
            <a:ext cx="2944368" cy="2971800"/>
          </a:xfrm>
          <a:prstGeom prst="roundRect">
            <a:avLst>
              <a:gd name="adj" fmla="val 3106"/>
            </a:avLst>
          </a:prstGeom>
          <a:solidFill>
            <a:srgbClr val="D49B48"/>
          </a:solidFill>
          <a:ln w="12700">
            <a:solidFill>
              <a:srgbClr val="D49B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205740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operativa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016752" y="263347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Inspectores con acreditación API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16752" y="298094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Presencia en terreno certificada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016752" y="33284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Soporte 24/7 durante operaciones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16752" y="36758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Coordinación y reporte en tiempo real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16752" y="40233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Adaptación a normativas locales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16752" y="4370832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Gestión documental completa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OPERACIONES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operaciones cubrimos?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🛢️  VEF al Arribo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al arribo del buque. Concilia cantidades de origen vs. destino con comparativa del Vessel Experience Factor según API MPMS 17.9.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325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  Operación Completa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7373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BL de origen hasta entrega en destino. Incluye ullage inicial, final, alijes y alijadores a tierra. Trazabilidad end-to-end.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D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54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  Alije STS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Ship-to-Ship transfer. Control de cantidades entre buques con registro de slops, checklist del buque madre y del alijador.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30175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D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154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Terminal a Tierra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566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en terminales y plantas de almacenamiento. Control de aforos, medición de tanques y conciliación con figura de shore.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TRABAJO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Auditamos procesos de inspección.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02336" y="1005840"/>
            <a:ext cx="1353312" cy="3200400"/>
          </a:xfrm>
          <a:prstGeom prst="roundRect">
            <a:avLst>
              <a:gd name="adj" fmla="val 6757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1338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93776" y="16642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" y="237744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de datos de origen para trazabilidad y análisis de desvío. BL, GSV, TCV, API, BS&amp;W.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37944" y="1005840"/>
            <a:ext cx="1353312" cy="32004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C8D4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9384" y="11338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29384" y="16642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9384" y="237744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acuerdos y control para cumplimiento mediante cuestionario pre-cargado API MPMS 17.1.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1005840"/>
            <a:ext cx="1353312" cy="3200400"/>
          </a:xfrm>
          <a:prstGeom prst="roundRect">
            <a:avLst>
              <a:gd name="adj" fmla="val 6757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64992" y="11338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64992" y="16642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237744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acreditaciones y calibraciones de equipos y algoritmos según API 7, 11 y 12.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1353312" cy="32004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C8D4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1338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00600" y="16642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7744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hora a hora durante la descarga con comentarios a incumplimientos basados en el Key Meeting.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44768" y="1005840"/>
            <a:ext cx="1353312" cy="3200400"/>
          </a:xfrm>
          <a:prstGeom prst="roundRect">
            <a:avLst>
              <a:gd name="adj" fmla="val 6757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11338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36208" y="16642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Evolutivo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237744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origen a destino con análisis del Consultor IA y conclusiones objetivas.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0376" y="1005840"/>
            <a:ext cx="1353312" cy="32004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C8D4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71816" y="11338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671816" y="16642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71816" y="237744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trazable, certificados firmados y PDF completo exportable desde el Sistema Operacional.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QUE EMITIMOS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trazable en cada etapa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D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978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197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Preliminar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490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 durante la operación con datos parciales y alertas tempranas al cliente.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D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978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03520" y="1197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Operacional / SOF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490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cronológico de eventos, tiempos, pausas y acuerdos en cubierta.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D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0391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Record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horario de volúmenes bombeados, presiones y observaciones de descarga.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984248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D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0391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Quantity (COQ)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GOV, GSV, TCV, Free Water, API, BS&amp;W y método de cálculo aplicado.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25496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D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880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Quality (CQL)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172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técnico de resultados de origen vs. destino basado en información suministrada.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825496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D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880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35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VEF Comparativo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172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imputación de datos y validación de viajes calificables para el VEF.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66744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DD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72160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9728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— Dossier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014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Hallazgos, análisis de diferencia, causas y evidencia fotográfica completa.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COMO ESTRATEGIA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segundo par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ojos técnicos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Consultor IA de ACI LATAM complementa la experiencia del equipo técnico escudriñando cada módulo de la operación, comparando datos de origen y destino e identificando causas de desvío con referencias exactas a normas internacionales y condiciones fisicoquímicas del producto.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reemplaza al inspector.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i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 su criterio."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0" y="41148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466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Escrutinio módulo a módulo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7589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BL, ullage, VEF, termómetros y checklist detectando inconsistencias entre datos.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0" y="132588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380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origen vs. destino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16733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 cantidades y calidad con análisis de desvío cuantificado.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0" y="224028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295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fisicoquímicas del desvío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5877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temperatura, API, BS&amp;W y condiciones de trim como variables explicativas.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315468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3209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error API MPMS 13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35021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error sistemático (sesgo del buque) de error aleatorio con fundamento estadístico.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406908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4123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objetivas para el informe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44165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texto técnico estructurado listo para incorporar al reporte final.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 ACI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web para gestión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operaciones en terreno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app.acilatam.cl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Operacional de ACI centraliza toda la gestión en una plataforma web accesible desde cualquier dispositivo. Permite registrar, calcular, analizar y exportar reportes durante y después de cada operación.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0640" y="4572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0" y="548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212080" y="969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operaciones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13167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completo por país e inspector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20640" y="1993392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0848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12080" y="25054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automáticos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28529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VCF, VEF, ullage, diferencias en tiempo real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3529584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36210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1208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IA integrado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43891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asistido en cada módulo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86600" y="4572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36603A"/>
          </a:solidFill>
          <a:ln w="12700">
            <a:solidFill>
              <a:srgbClr val="3660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78040" y="548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78040" y="969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Evolutivo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8040" y="13167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total con exportación PDF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86600" y="1993392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36603A"/>
          </a:solidFill>
          <a:ln w="12700">
            <a:solidFill>
              <a:srgbClr val="3660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78040" y="20848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178040" y="25054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API MPMS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78040" y="28529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con scoring C/P/N/NA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86600" y="3529584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36603A"/>
          </a:solidFill>
          <a:ln w="12700">
            <a:solidFill>
              <a:srgbClr val="3660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78040" y="36210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178040" y="4041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protegido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43891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con autenticación segura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DEL SISTEMA OPERACIONAL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módulos integrados en cada operación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0624" y="1115568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" y="1207008"/>
            <a:ext cx="256032" cy="256032"/>
          </a:xfrm>
          <a:prstGeom prst="ellipse">
            <a:avLst/>
          </a:prstGeom>
          <a:solidFill>
            <a:srgbClr val="D49B48"/>
          </a:solidFill>
          <a:ln w="12700">
            <a:solidFill>
              <a:srgbClr val="D49B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04672" y="120700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Datos de Origen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159105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BL, GOV/GSV, API, BS&amp;W y VEF histórico del buque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115568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207008"/>
            <a:ext cx="256032" cy="256032"/>
          </a:xfrm>
          <a:prstGeom prst="ellipse">
            <a:avLst/>
          </a:prstGeom>
          <a:solidFill>
            <a:srgbClr val="D49B48"/>
          </a:solidFill>
          <a:ln w="12700">
            <a:solidFill>
              <a:srgbClr val="D49B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44368" y="120700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Key Meeting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70048" y="159105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pre-cargado API MPMS 17.1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0016" y="1115568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91456" y="1207008"/>
            <a:ext cx="256032" cy="256032"/>
          </a:xfrm>
          <a:prstGeom prst="ellipse">
            <a:avLst/>
          </a:prstGeom>
          <a:solidFill>
            <a:srgbClr val="D49B48"/>
          </a:solidFill>
          <a:ln w="12700">
            <a:solidFill>
              <a:srgbClr val="D49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84064" y="120700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Ullage al Arribo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9744" y="159105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por tanque, trim, escora y temperatura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39712" y="1115568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31152" y="1207008"/>
            <a:ext cx="256032" cy="256032"/>
          </a:xfrm>
          <a:prstGeom prst="ellipse">
            <a:avLst/>
          </a:prstGeom>
          <a:solidFill>
            <a:srgbClr val="D49B48"/>
          </a:solidFill>
          <a:ln w="12700">
            <a:solidFill>
              <a:srgbClr val="D49B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223760" y="120700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VEF Comparativo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159105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viajes calificantes y VEF resultante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" y="2313432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0DA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" y="2404872"/>
            <a:ext cx="256032" cy="256032"/>
          </a:xfrm>
          <a:prstGeom prst="ellipse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04672" y="24048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Discharge Record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" y="27889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horario de volúmenes bombeados y presiones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0" y="2313432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0DA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51760" y="2404872"/>
            <a:ext cx="256032" cy="256032"/>
          </a:xfrm>
          <a:prstGeom prst="ellipse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944368" y="24048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Termómetros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70048" y="27889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API MPMS 7.1 — tolerancia ±0.5°F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0016" y="2313432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0DA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91456" y="2404872"/>
            <a:ext cx="256032" cy="256032"/>
          </a:xfrm>
          <a:prstGeom prst="ellipse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84064" y="24048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Checklist API MPMS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9744" y="27889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 con scoring C / P / N / NA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39712" y="2313432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0DA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31152" y="2404872"/>
            <a:ext cx="256032" cy="256032"/>
          </a:xfrm>
          <a:prstGeom prst="ellipse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223760" y="240487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Reporte Evolutivo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49440" y="278892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final + Consultor IA + PDF exportable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 — API MPMS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Operamos bajo estándares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internacionales API MPMS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cálculo, medición y documento emitido por ACI LATAM referencia la norma aplicable del Manual of Petroleum Measurement Standards.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También: ASTM D4007 · IP 372 · FOSFA · GAFTA · ISGOTT · ISPS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384048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6048" y="4297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MPMS 3.1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6048" y="70408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manual de ullage en tanques de buque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85432" y="384048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4297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MPMS 7.1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0" y="70408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de temperatura en productos de petróleo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078992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2471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MPMS 8.2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139903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representativo de crudos y derivados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85432" y="1078992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12471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MPMS 11.1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95160" y="139903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6A/6B — reducción de volúmenes a base 60°F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773936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81965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MPMS 12.1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2093976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cantidades en custody transfer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85432" y="1773936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81965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MPMS 13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093976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— error sistemático vs. aleatorio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468880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514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MPMS 17.1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56048" y="278892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measurement — inspección y documentación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85432" y="2468880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D49B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514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MPMS 17.9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78892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Experience Factor (VEF) — metodología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ACI LATAM?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propuesta de valor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total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Actuamos exclusivamente por el cliente, sin vínculos con navieras, terminales ni trading.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16184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estructurada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completo: fotografías, cálculos auditables, certificados y bitácora con firma.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16184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ventaja competitiva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9659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Consultor IA detecta patrones de error y genera conclusiones técnicas que refuerzan el criterio del inspector.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16352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0DA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907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291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regional real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6393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Inspectores locales en 7 países con conocimiento de normativas, terminales y operadores de cada mercado.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816352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0DA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2907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29000" y="3291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 propio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6393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exclusiva que centraliza la operación, calcula en tiempo real y exporta reportes al instante.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816352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0DA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2907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3291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internacionales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6393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alineados con API MPMS, ASTM, ISGOTT y estándares de custody transfer.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200400" cy="4389120"/>
          </a:xfrm>
          <a:prstGeom prst="roundRect">
            <a:avLst>
              <a:gd name="adj" fmla="val 3429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94360" y="640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CONTROL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9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www.acilatam.cl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contacto@acilatam.cl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Descarga nuestro Brochure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8229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Conversemos sobre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próxima operación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93192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Envíenos los datos de la operación, producto, terminal y fecha estimada. Nuestro equipo preparará una propuesta técnica adaptada a sus requerimientos.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3749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hacemos inspecciones.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i="1" dirty="0">
                <a:solidFill>
                  <a:srgbClr val="D49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Auditamos procesos de inspección."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 LATAM — Presentación Corporativa</dc:title>
  <dc:subject>PptxGenJS Presentation</dc:subject>
  <dc:creator>ACI Loss Control</dc:creator>
  <cp:lastModifiedBy>ACI Loss Control</cp:lastModifiedBy>
  <cp:revision>1</cp:revision>
  <dcterms:created xsi:type="dcterms:W3CDTF">2026-06-27T06:52:03Z</dcterms:created>
  <dcterms:modified xsi:type="dcterms:W3CDTF">2026-06-27T06:52:03Z</dcterms:modified>
</cp:coreProperties>
</file>